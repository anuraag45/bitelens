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INDUS UNIVERSITY • DEPARTMENT OF COMPUTER SCIENCE &amp; ENGINEERING</a:t>
            </a:r>
          </a:p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BiteLens</a:t>
            </a:r>
          </a:p>
          <a:p>
            <a:pPr>
              <a:defRPr sz="2000">
                <a:solidFill>
                  <a:srgbClr val="CBD5E1"/>
                </a:solidFill>
                <a:latin typeface="Calibri"/>
              </a:defRPr>
            </a:pPr>
            <a:r>
              <a:t>Optical Food Label Decoding &amp; Health Telemetry Platform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6th Semester Software Group Project (SGP) Presentation • Academic Year 2025–2026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62179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PROJECT TEAM MEMBERS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Pinak Pipaliya (IU2441051292) — Optical Scanning UI &amp; Frontend 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Anuraag Sharma (IU2441051286) — Go Gin REST Backend, Security &amp; Cryptographic Telemetry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Harshil Mehta (IU2441051298) — PostgreSQL GORM Models &amp; Indian Food Taxonomy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Vedant Kundaliya (IU2441051305) — Android SDK Packaging, APK Build Pipeline &amp;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474720"/>
            <a:ext cx="38404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35661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FACULTY MENTORSHIP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Guided By: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Prof. / Dipali Panchal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Assistant Professor</a:t>
            </a:r>
            <a:br/>
            <a:r>
              <a:t>Department of Computer Engineering</a:t>
            </a:r>
            <a:br/>
            <a:r>
              <a:t>Indus Institute of Technology &amp; Engineering</a:t>
            </a:r>
            <a:br/>
            <a:r>
              <a:t>Indus University, Ahmedabad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 &amp; The Indian Food Decoding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Cryptic Label Dilemma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Packaged foods in India conceal chemical additives behind complex International Numbering System (INS) codes.</a:t>
            </a:r>
            <a:br/>
            <a:br/>
            <a:r>
              <a:t>• INS 621 (Monosodium Glutamate)</a:t>
            </a:r>
            <a:br/>
            <a:r>
              <a:t>• INS 120 (Carmine dye from crushed insects)</a:t>
            </a:r>
            <a:br/>
            <a:r>
              <a:t>• INS 955 (Sucralose artificial sweetener)</a:t>
            </a:r>
            <a:br/>
            <a:br/>
            <a:r>
              <a:t>Consumers cannot decipher these numbers at point-of-sale without specialized chemistry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Front-of-Pack Marketing Trap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Food manufacturers heavily exploit misleading health claims on front packaging:</a:t>
            </a:r>
            <a:br/>
            <a:br/>
            <a:r>
              <a:t>• 'Zero Added Sugar' items loaded with maltodextrin (GI: 110)</a:t>
            </a:r>
            <a:br/>
            <a:r>
              <a:t>• '100% Real Fruit' yogurts packed with synthetic thickeners (INS 440)</a:t>
            </a:r>
            <a:br/>
            <a:r>
              <a:t>• 'Whole Wheat' breads containing 85% refined maida flour</a:t>
            </a:r>
            <a:br/>
            <a:br/>
            <a:r>
              <a:t>There is no transparency into the degree of ultra-processing.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Deficiencies of Global Apps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Existing global solutions fail in the Indian regional ecosystem:</a:t>
            </a:r>
            <a:br/>
            <a:br/>
            <a:r>
              <a:t>• Yuka &amp; OpenFoodFacts lack coverage for Indian regional packaged brands (Balaji, Haldiram's, Amul, Parle)</a:t>
            </a:r>
            <a:br/>
            <a:r>
              <a:t>• MyFitnessPal relies on unverified crowd-sourced calories without additive parsing</a:t>
            </a:r>
            <a:br/>
            <a:r>
              <a:t>• No compliance with India's Digital Personal Data Protection (DPDP) Act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Objectives &amp; Technical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7335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81912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Real-Time Optical OCR Label Scanner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Implement client-side camera scanning using HTML5 Canvas &amp; Tesseract.js / OCR API to extract ingredient text from curved product labels with glare tolerance.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3347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42032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Automated INS Additive &amp; Chemical Decoding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Build a fuzzy regex parser matching 150+ FSSAI-regulated INS numbers against a curated trie dictionary, translating technical terms into plain English health risk summaries.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9359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02152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Dual-Scoring Heuristic Telemetry Engine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Calculate independent processing scores based on the international NOVA 1-4 classification (Health Score 0-100) and personalized fitness alignment (Goal Score 0-100).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5371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62272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DPDP Act 2023 Statutory Minor-Consent Compliance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Incorporate Rule 11 parental consent workflows, age-gated JWT authentication, and automated cascading right-to-erasure DB triggers for minor data privacy.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513832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422392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Multi-Platform Deployment (PWA &amp; Native APK)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Deliver a production Vite Progressive Web App and a fully compiled, signed 1.29 MB Android APK container running offline with zero external web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Review &amp; Competitive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858975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Feature Dimension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Yuka (France)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MyFitnessPal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OpenFoodFacts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HealthifyMe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BiteLens (Ours)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Indian Regional Packaged Foods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Very Poor (&lt;10%)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Crowdsourced / Unverified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Moderate (~35%)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Meals Only (Zero Additives)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High / Dedicated Indian DB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INS Additive Code Translation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EU E-Numbers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Raw Chemical 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Plain-English FSSAI Decoded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NOVA Processing Heuristic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Partial (Nutri-Score)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Group 1-4 Tagging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4-Tier NOVA + Health Score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Goal Fit 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Generic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Macro Tracking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Calorie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Dual-Axis (Weight x Muscle)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DPDP Act 2023 Minor Consent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GDPR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COPPA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Public Domain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Indian DB (No Consent)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Strict Rule 11 Verification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Key Takeaway: BiteLens is the first solution bridging Indian FSSAI statutory labeling, offline INS additive translation, and personalized dual-goal dietary telemetry within a single unified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High-Performance 3-Tier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Tier 1: Client Presentation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Cross-Platform Hybrid Frontend</a:t>
            </a:r>
          </a:p>
          <a:p/>
          <a:p>
            <a:pPr>
              <a:defRPr sz="980">
                <a:solidFill>
                  <a:srgbClr val="64748B"/>
                </a:solidFill>
              </a:defRPr>
            </a:pPr>
            <a:r>
              <a:t>• Vite 5.4 + Vanilla JS ES Modules (zero framework overhead)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Offline Service Worker PWA with Cache-First strategy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Compiled Android APK Container (minSdk 24, targetSdk 34)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HTML5 Camera Video Stream &amp; Real-time Canvas binarization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Lucide Iconography + Accessible ARIA Design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Tier 2: Application Microservice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Hardened Go 1.22+ Gin REST API</a:t>
            </a:r>
          </a:p>
          <a:p/>
          <a:p>
            <a:pPr>
              <a:defRPr sz="980">
                <a:solidFill>
                  <a:srgbClr val="64748B"/>
                </a:solidFill>
              </a:defRPr>
            </a:pPr>
            <a:r>
              <a:t>• High-throughput concurrent routing (10,000+ req/sec)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Stateless HttpOnly Cookie JWT Authentication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Token-Bucket Rate Limiting (10 req/min for OCR endpoints)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Fuzzy Regex INS Lexer &amp; Trie Additive Matcher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Cryptographic SHA-256 Telemetry Hash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91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Tier 3: Persistence &amp; Schema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PostgreSQL + GORM Relational Layer</a:t>
            </a:r>
          </a:p>
          <a:p/>
          <a:p>
            <a:pPr>
              <a:defRPr sz="980">
                <a:solidFill>
                  <a:srgbClr val="64748B"/>
                </a:solidFill>
              </a:defRPr>
            </a:pPr>
            <a:r>
              <a:t>• DPDP Cascading Erasure (OnDelete: CASCADE for minor privacy)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JSONB undeclared nutrient telemetry storage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UUID primary keys generated application-side in Go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Indexed FSSAI INS Additive Knowledge Base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Traceable scan history with user audit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6-Stage Optical Label Extraction &amp; Scoring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058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Camera Capture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HTML5 getUserMedia API extracts 1080p frame from camera stream.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100584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Preprocessing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Otsu threshold binarization &amp; contrast normalization for curved foils.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100584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Text Extraction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Client Tesseract.js / Backend OCR converts label image into raw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134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114800"/>
            <a:ext cx="100584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Regex Lexer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Normalized regex extracts INS codes (e.g., 'INS 500(ii)', 'E621').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4134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4114800"/>
            <a:ext cx="1005840" cy="320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Scoring Engine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Computes NOVA tier, health penalty deductions &amp; fitness goal fit.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4134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4114800"/>
            <a:ext cx="100584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STAGE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2628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HUD Telemetry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Renders plain-language verdict, additive health cards &amp; clean swaps.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Mathematical Scoring Engines: NOVA &amp; Goal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1. Health Processing Score (0 – 100)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Formula: S_health = Base_NOVA - Sum(Deductions)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NOVA Group 1 (Unprocessed): Base 100 pts (Whole grains, fresh milk)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NOVA Group 2 (Culinary ingredients): Base 90 pts (Oils, salts, sugars)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NOVA Group 3 (Processed foods): Base 75 pts (Canned fish, cheese)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NOVA Group 4 (Ultra-Processed Food): Base 50 pts (Sodas, crisps)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Added Sugar Penalty: -5 pts per 5g above 10g/100g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Sodium Penalty: -5 pts per 300mg above 600mg/100g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Saturated Fat Penalty: -5 pts per 3g above 5g/100g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Artificial Emulsifier / Color Penalty: -8 pts per synthetic INS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Personal Goal Fit Score (0 – 100)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Dual-Axis Alignment: (Weight Goal x Muscle Goal)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Weight Loss (Deficit): Heavily penalizes high calorie density (&gt;400 kcal/100g) and added sugar spikes.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Weight Gain (Surplus): Rewards nutrient-dense healthy fats and complex carbohydrates without penalizing calories.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Hypertrophy (High Protein): Rewards protein density (+10 pts per 5g protein/100g) and low sodium.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Metabolic Endurance: Rewards high dietary fiber (&gt;6g/100g) and low glycemic index additives.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Independent Evaluation: An ultra-processed protein bar may score Health: 42/100 (UPF) but Goal: 88/100 (High Protein).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DPDP Act 2023 Statutory Minor Privacy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Section 9 &amp; Rule 11 Compliance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Under the Digital Personal Data Protection Act 2023, processing personal data of children (&lt;18 years) requires verifiable parental consent.</a:t>
            </a:r>
            <a:br/>
            <a:br/>
            <a:r>
              <a:t>BiteLens dynamically checks birth dates in Go backend (user.IsMinor()) and enforces explicit parent email consent before profiling.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Cryptographic Auditability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Every scan and consent transaction generates an immutable SHA-256 cryptographic trace hash:</a:t>
            </a:r>
            <a:br/>
            <a:br/>
            <a:r>
              <a:t>Hash = SHA256(UserID + Timestamp + ParentalConsentID + TelemetryData)</a:t>
            </a:r>
            <a:br/>
            <a:br/>
            <a:r>
              <a:t>Guarantees non-repudiation during regulatory privacy audits without storing raw sensitive identifiers.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Automated Right to Erasure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Section 12 statutory right to erasure is implemented with PostgreSQL cascading deletion:</a:t>
            </a:r>
            <a:br/>
            <a:br/>
            <a:r>
              <a:t>• User deletion cascades through OnDelete: CASCADE</a:t>
            </a:r>
            <a:br/>
            <a:r>
              <a:t>• Scan histories, cookie tokens, and profile metrics are purged within 100ms</a:t>
            </a:r>
            <a:br/>
            <a:r>
              <a:t>• Zero zombie session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Empirical Validation &amp; Test Execution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3474720"/>
                <a:gridCol w="1188720"/>
                <a:gridCol w="1310335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Backend Package / Engine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Scope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Verification Invariant Tested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backend/cmd/api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System Liveness Probe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HTTP 200 OK on GET /healthz and graceful shutdown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0.296s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backend/internal/auth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JWT &amp; DPDP Minor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Stateless HttpOnly cookie set &amp; minor age gate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1.437s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backend/internal/db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Database Persistence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PostgreSQL GORM migration, UUID keys &amp; Cascading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0.288s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backend/internal/handlers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API Endpoint 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Login, register, parental consent &amp; scan endpoints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0.950s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backend/internal/middleware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Rate Limiter &amp; CORS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Token-bucket 10 req/min limit &amp; origin validation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1.093s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backend/internal/telemetry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INS Lexer &amp; NOVA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Fuzzy regex parsing &amp; NOVA 1-4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0.794s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verify_math.js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Mathematical Models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Mifflin-St Jeor BMR (1648.75) &amp; Asian BMI criteria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0.082s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PASS 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59669"/>
                </a:solidFill>
              </a:defRPr>
            </a:pPr>
            <a:r>
              <a:t>All 7 Go microservice packages and mathematical validation test suites execute 100% uncached without errors or race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Live Production Deployment &amp; Distribution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Web Application (PWA)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https://bitelenss.vercel.app</a:t>
            </a:r>
          </a:p>
          <a:p/>
          <a:p>
            <a:pPr>
              <a:defRPr sz="980">
                <a:solidFill>
                  <a:srgbClr val="64748B"/>
                </a:solidFill>
              </a:defRPr>
            </a:pPr>
            <a:r>
              <a:t>• Hosted on Global Edge CDN via Vercel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1600+ modules bundled via Vite 5.4 in 4.5s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PWA Service Worker offline caching enabled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Clean URL rewrites (/app, /sgp_report)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100% responsive across mobile, tablet, and desktop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Android Standalone App (APK)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https://bitelenss.vercel.app/downloads/bitelens.apk</a:t>
            </a:r>
          </a:p>
          <a:p/>
          <a:p>
            <a:pPr>
              <a:defRPr sz="980">
                <a:solidFill>
                  <a:srgbClr val="64748B"/>
                </a:solidFill>
              </a:defRPr>
            </a:pPr>
            <a:r>
              <a:t>• 1.29 MB optimized standalone APK deliverable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Built using Android SDK Build Tools 35.0.0 &amp; AAPT2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Zero external WebView runtime dependencies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Packaged with 18 offline HTML routes and local JS/CSS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Normalized Unix forward slashes for Android C++ AssetManager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Academic Documentation Suite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https://bitelenss.vercel.app/sgp_report</a:t>
            </a:r>
          </a:p>
          <a:p/>
          <a:p>
            <a:pPr>
              <a:defRPr sz="980">
                <a:solidFill>
                  <a:srgbClr val="64748B"/>
                </a:solidFill>
              </a:defRPr>
            </a:pPr>
            <a:r>
              <a:t>• Official Indus University SGP Report (DOCX format, 41.3 KB)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Printable responsive HTML academic report with CSS print media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Complete 10-reference bibliography &amp; architecture schematics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Viva Voce Oral Defense Master Pack (SGP_PROJECT_BOOST.md)</a:t>
            </a:r>
          </a:p>
          <a:p>
            <a:pPr>
              <a:defRPr sz="980">
                <a:solidFill>
                  <a:srgbClr val="64748B"/>
                </a:solidFill>
              </a:defRPr>
            </a:pPr>
            <a:r>
              <a:t>• WBS &amp; 16-Week Project Timelines (SGP_PROJECT_PLAN.md)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Student Work Allocation &amp; RACI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975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Project Workstream / Component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Pinak Pipaliya</a:t>
                      </a:r>
                      <a:br/>
                      <a:r>
                        <a:t>(IU2441051292)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Anuraag Sharma</a:t>
                      </a:r>
                      <a:br/>
                      <a:r>
                        <a:t>(IU2441051286)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Harshil Mehta</a:t>
                      </a:r>
                      <a:br/>
                      <a:r>
                        <a:t>(IU2441051298)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Vedant Kundaliya</a:t>
                      </a:r>
                      <a:br/>
                      <a:r>
                        <a:t>(IU2441051305)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Frontend UI, Video Scanner &amp; Responsive Layouts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059669"/>
                          </a:solidFill>
                        </a:defRPr>
                      </a:pPr>
                      <a:r>
                        <a:t>Accountable (A)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Consulted (C)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Informed (I)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Informed (I)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Go REST Microservice, JWT Auth &amp; Cryptographic 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Consulted 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059669"/>
                          </a:solidFill>
                        </a:defRPr>
                      </a:pPr>
                      <a:r>
                        <a:t>Accountable 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2563EB"/>
                          </a:solidFill>
                        </a:defRPr>
                      </a:pPr>
                      <a:r>
                        <a:t>Responsible (R)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Informed (I)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PostgreSQL GORM Schemas &amp; Indian Additive Taxonomy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Informed (I)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2563EB"/>
                          </a:solidFill>
                        </a:defRPr>
                      </a:pPr>
                      <a:r>
                        <a:t>Responsible (R)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059669"/>
                          </a:solidFill>
                        </a:defRPr>
                      </a:pPr>
                      <a:r>
                        <a:t>Accountable (A)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Consulted (C)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Android SDK APK Packaging, AAPT2 &amp; D8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Consulted 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Consulted 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Informed (I)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059669"/>
                          </a:solidFill>
                        </a:defRPr>
                      </a:pPr>
                      <a:r>
                        <a:t>Accountable 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64748B"/>
                          </a:solidFill>
                        </a:defRPr>
                      </a:pPr>
                      <a:r>
                        <a:t>Empirical Testing, Math Verification &amp; Documentation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2563EB"/>
                          </a:solidFill>
                        </a:defRPr>
                      </a:pPr>
                      <a:r>
                        <a:t>Responsible (R)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059669"/>
                          </a:solidFill>
                        </a:defRPr>
                      </a:pPr>
                      <a:r>
                        <a:t>Accountable (A)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2563EB"/>
                          </a:solidFill>
                        </a:defRPr>
                      </a:pPr>
                      <a:r>
                        <a:t>Responsible (R)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2563EB"/>
                          </a:solidFill>
                        </a:defRPr>
                      </a:pPr>
                      <a:r>
                        <a:t>Responsible (R)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t>RACI Legend: A = Accountable (Final Decision), R = Responsible (Core Implementation), C = Consulted (Review), I = Informed.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INDUS UNIVERSITY • SGP PROJECT DEFENSE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 &amp; Future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Key Project Achievements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✔ Demystified Cryptic Food Labels: Successfully translated complex FSSAI INS numbers into everyday plain language.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✔ Engineered Dual-Axis Telemetry: Separated ultra-processing health deductions from individual fitness macronutrient goals.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✔ Demonstrated Statutory DPDP Compliance: Implemented active minor-protection workflows, parental consent, and right-to-erasure.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✔ Achieved 100% Production Reliability: Verified all Go backend test suites and compiled an offline 1.29 MB Android APK container.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Future Technical Roadmap (v3.0)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➔ Multi-Frame Image Rectification: Implement perspective correction to resolve glare on crinkled foil snack pouches.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➔ Regional Indian Languages: Add Hindi, Gujarati, Marathi, and Tamil multi-lingual voice and text translation.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➔ Verifiable Parental Consent (VPC) Gateway: Integrate Aadhaar-based or SMS/OTP parent identity verification for enterprise scale.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➔ Edge ML On-Device OCR: Train lightweight CoreML and TensorFlow Lite models for zero-latency camera scanning without network.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10B981"/>
                </a:solidFill>
              </a:defRPr>
            </a:pPr>
            <a:r>
              <a:t>BiteLens — Optical Food Label Decoding &amp; Health Telemetry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We welcome questions and feedback from the Examination Committee.</a:t>
            </a:r>
          </a:p>
          <a:p/>
          <a:p>
            <a:pPr algn="ctr">
              <a:defRPr sz="1200">
                <a:solidFill>
                  <a:srgbClr val="94A3B8"/>
                </a:solidFill>
              </a:defRPr>
            </a:pPr>
            <a:r>
              <a:t>Live Web App: bitelenss.vercel.app  •  APK Download: bitelenss.vercel.app/downloads/bitelens.apk</a:t>
            </a:r>
            <a:br/>
            <a:r>
              <a:t>Academic Report: bitelenss.vercel.app/sgp_report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